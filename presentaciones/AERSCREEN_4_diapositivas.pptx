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75488"/>
            <a:ext cx="685800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D2436"/>
                </a:solidFill>
                <a:latin typeface="Aptos"/>
              </a:rPr>
              <a:t>AERSCREEN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16152"/>
            <a:ext cx="667512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E85"/>
                </a:solidFill>
                <a:latin typeface="Aptos"/>
              </a:rPr>
              <a:t>Una primera mirada conservadora antes del modelado refinado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38528"/>
            <a:ext cx="5989320" cy="1508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1C2D38"/>
                </a:solidFill>
                <a:latin typeface="Aptos"/>
              </a:rPr>
              <a:t>Es el modelo de screening recomendado por la EPA y basado en AERMOD. Busca la combinación meteorológica y la distancia que generan el mayor impacto esperado de una fuente, sin exigir una serie meteorológica horaria completa.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703320"/>
            <a:ext cx="1783080" cy="384048"/>
          </a:xfrm>
          <a:prstGeom prst="roundRect">
            <a:avLst>
              <a:gd name="adj" fmla="val 12000"/>
            </a:avLst>
          </a:prstGeom>
          <a:solidFill>
            <a:srgbClr val="DAF3F6"/>
          </a:solidFill>
          <a:ln w="12700">
            <a:solidFill>
              <a:srgbClr val="DA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721607"/>
            <a:ext cx="1636776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E85"/>
                </a:solidFill>
                <a:latin typeface="Aptos"/>
              </a:rPr>
              <a:t>RECOMENDADO POR EPA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37033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8F0F4"/>
          </a:solidFill>
          <a:ln w="12700">
            <a:solidFill>
              <a:srgbClr val="E8F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3721607"/>
            <a:ext cx="1271016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D2436"/>
                </a:solidFill>
                <a:latin typeface="Aptos"/>
              </a:rPr>
              <a:t>UNA FUENTE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37033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FFEFD2"/>
          </a:solidFill>
          <a:ln w="12700">
            <a:solidFill>
              <a:srgbClr val="FFE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721607"/>
            <a:ext cx="1271016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A610A"/>
                </a:solidFill>
                <a:latin typeface="Aptos"/>
              </a:rPr>
              <a:t>PEOR CASO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315968"/>
            <a:ext cx="5943600" cy="1207008"/>
          </a:xfrm>
          <a:prstGeom prst="roundRect">
            <a:avLst>
              <a:gd name="adj" fmla="val 12000"/>
            </a:avLst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98848"/>
            <a:ext cx="1554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4BCCD"/>
                </a:solidFill>
                <a:latin typeface="Aptos"/>
              </a:rPr>
              <a:t>¿Qué entrega?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09744"/>
            <a:ext cx="53035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Máxima concentración de 1 hora y estimaciones conservadoras para 3 h, 8 h, 24 h y 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438912"/>
            <a:ext cx="448056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749808"/>
            <a:ext cx="3886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7E85"/>
                </a:solidFill>
                <a:latin typeface="Aptos"/>
              </a:rPr>
              <a:t>SCREENING ≠ PRONÓSTICO HORARIO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631" y="4352544"/>
            <a:ext cx="3977639" cy="73152"/>
          </a:xfrm>
          <a:prstGeom prst="rect">
            <a:avLst/>
          </a:prstGeom>
          <a:solidFill>
            <a:srgbClr val="A4B2B5"/>
          </a:solidFill>
          <a:ln w="12700">
            <a:solidFill>
              <a:srgbClr val="A4B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90688" y="2496312"/>
            <a:ext cx="402336" cy="1856231"/>
          </a:xfrm>
          <a:prstGeom prst="rect">
            <a:avLst/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08392" y="2359152"/>
            <a:ext cx="566928" cy="164592"/>
          </a:xfrm>
          <a:prstGeom prst="rect">
            <a:avLst/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27264" y="2084831"/>
            <a:ext cx="320040" cy="320040"/>
          </a:xfrm>
          <a:prstGeom prst="ellipse">
            <a:avLst/>
          </a:prstGeom>
          <a:solidFill>
            <a:srgbClr val="F4A931"/>
          </a:solidFill>
          <a:ln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4535424"/>
            <a:ext cx="960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F79"/>
                </a:solidFill>
                <a:latin typeface="Aptos"/>
              </a:rPr>
              <a:t>fuente</a:t>
            </a:r>
          </a:p>
        </p:txBody>
      </p:sp>
      <p:sp>
        <p:nvSpPr>
          <p:cNvPr id="21" name="Oval 20"/>
          <p:cNvSpPr/>
          <p:nvPr/>
        </p:nvSpPr>
        <p:spPr>
          <a:xfrm>
            <a:off x="8110727" y="2194560"/>
            <a:ext cx="960120" cy="384048"/>
          </a:xfrm>
          <a:prstGeom prst="ellipse">
            <a:avLst/>
          </a:prstGeom>
          <a:solidFill>
            <a:srgbClr val="91DCE1"/>
          </a:solidFill>
          <a:ln>
            <a:solidFill>
              <a:srgbClr val="91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2295144"/>
            <a:ext cx="1170432" cy="566928"/>
          </a:xfrm>
          <a:prstGeom prst="ellipse">
            <a:avLst/>
          </a:prstGeom>
          <a:solidFill>
            <a:srgbClr val="B5E7EA"/>
          </a:solidFill>
          <a:ln>
            <a:solidFill>
              <a:srgbClr val="B5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2459736"/>
            <a:ext cx="1344168" cy="804672"/>
          </a:xfrm>
          <a:prstGeom prst="ellipse">
            <a:avLst/>
          </a:prstGeom>
          <a:solidFill>
            <a:srgbClr val="D7F2F4"/>
          </a:solidFill>
          <a:ln>
            <a:solidFill>
              <a:srgbClr val="D7F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69880" y="4050791"/>
            <a:ext cx="347472" cy="347472"/>
          </a:xfrm>
          <a:prstGeom prst="ellipse">
            <a:avLst/>
          </a:prstGeom>
          <a:solidFill>
            <a:srgbClr val="D05249"/>
          </a:solidFill>
          <a:ln>
            <a:solidFill>
              <a:srgbClr val="D05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4535424"/>
            <a:ext cx="16002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B6F79"/>
                </a:solidFill>
                <a:latin typeface="Aptos"/>
              </a:rPr>
              <a:t>receptor crítico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412480" y="5102352"/>
            <a:ext cx="1965960" cy="256032"/>
          </a:xfrm>
          <a:prstGeom prst="rightArrow">
            <a:avLst/>
          </a:prstGeom>
          <a:solidFill>
            <a:srgbClr val="5B6F79"/>
          </a:solidFill>
          <a:ln>
            <a:solidFill>
              <a:srgbClr val="5B6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5394960"/>
            <a:ext cx="2606040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F79"/>
                </a:solidFill>
                <a:latin typeface="Aptos"/>
              </a:rPr>
              <a:t>explora distancias y condiciones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70448"/>
            <a:ext cx="1088136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2436"/>
                </a:solidFill>
                <a:latin typeface="Aptos"/>
              </a:rPr>
              <a:t>Resultado deliberadamente conservador: sirve para decidir si hace falta un análisis refinado.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9611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Fuente: U.S. EPA, AERSCREEN User’s Guide (EPA-454/B-21-005, 2021) · epa.gov/scram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6565392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AERSCREEN · síntesis conceptual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E85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2860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D2436"/>
                </a:solidFill>
                <a:latin typeface="Aptos"/>
              </a:rPr>
              <a:t>¿Qué modelos lo componen y cómo interactúan?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731520"/>
            <a:ext cx="10241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F79"/>
                </a:solidFill>
                <a:latin typeface="Aptos"/>
              </a:rPr>
              <a:t>AERSCREEN organiza el flujo; cada programa resuelve una parte distinta del problema.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007E85"/>
          </a:solidFill>
          <a:ln w="1270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572768" cy="1298448"/>
          </a:xfrm>
          <a:prstGeom prst="roundRect">
            <a:avLst>
              <a:gd name="adj" fmla="val 12000"/>
            </a:avLst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441448"/>
            <a:ext cx="1371600" cy="56692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ptos"/>
              </a:rPr>
              <a:t>DATOS DEL
ESCENARIO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207008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4BCCD"/>
                </a:solidFill>
                <a:latin typeface="Aptos"/>
              </a:rPr>
              <a:t>fuente · entorno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679192"/>
            <a:ext cx="502920" cy="237744"/>
          </a:xfrm>
          <a:prstGeom prst="rightArrow">
            <a:avLst/>
          </a:prstGeom>
          <a:solidFill>
            <a:srgbClr val="007E85"/>
          </a:solidFill>
          <a:ln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24328" y="1965960"/>
            <a:ext cx="1901952" cy="1755648"/>
          </a:xfrm>
          <a:prstGeom prst="roundRect">
            <a:avLst>
              <a:gd name="adj" fmla="val 12000"/>
            </a:avLst>
          </a:prstGeom>
          <a:solidFill>
            <a:srgbClr val="DAF3F6"/>
          </a:solidFill>
          <a:ln w="2540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52344" y="2322576"/>
            <a:ext cx="16459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0D2436"/>
                </a:solidFill>
                <a:latin typeface="Aptos"/>
              </a:rPr>
              <a:t>AERSCREEN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761488"/>
            <a:ext cx="1353312" cy="5303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007E85"/>
                </a:solidFill>
                <a:latin typeface="Aptos"/>
              </a:rPr>
              <a:t>valida · coordina
busca · refina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216152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9050"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66944" y="1490472"/>
            <a:ext cx="347472" cy="347472"/>
          </a:xfrm>
          <a:prstGeom prst="ellipse">
            <a:avLst/>
          </a:prstGeom>
          <a:solidFill>
            <a:srgbClr val="F4A931"/>
          </a:solidFill>
          <a:ln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362456"/>
            <a:ext cx="1143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MAKEMET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1636776"/>
            <a:ext cx="1143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5B6F79"/>
                </a:solidFill>
                <a:latin typeface="Aptos"/>
              </a:rPr>
              <a:t>matriz meteorológica
sintética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90288" y="1554480"/>
            <a:ext cx="429768" cy="201168"/>
          </a:xfrm>
          <a:prstGeom prst="rightArrow">
            <a:avLst/>
          </a:prstGeom>
          <a:solidFill>
            <a:srgbClr val="99B3B7"/>
          </a:solidFill>
          <a:ln>
            <a:solidFill>
              <a:srgbClr val="99B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114032" y="1554480"/>
            <a:ext cx="438912" cy="201168"/>
          </a:xfrm>
          <a:prstGeom prst="rightArrow">
            <a:avLst/>
          </a:prstGeom>
          <a:solidFill>
            <a:srgbClr val="F4A931"/>
          </a:solidFill>
          <a:ln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2514600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9050"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66944" y="2788920"/>
            <a:ext cx="347472" cy="347472"/>
          </a:xfrm>
          <a:prstGeom prst="ellipse">
            <a:avLst/>
          </a:prstGeom>
          <a:solidFill>
            <a:srgbClr val="469C6E"/>
          </a:solidFill>
          <a:ln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2660904"/>
            <a:ext cx="1143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AERMAP*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2935224"/>
            <a:ext cx="1143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5B6F79"/>
                </a:solidFill>
                <a:latin typeface="Aptos"/>
              </a:rPr>
              <a:t>cotas de fuente
y receptores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90288" y="2852928"/>
            <a:ext cx="429768" cy="201168"/>
          </a:xfrm>
          <a:prstGeom prst="rightArrow">
            <a:avLst/>
          </a:prstGeom>
          <a:solidFill>
            <a:srgbClr val="99B3B7"/>
          </a:solidFill>
          <a:ln>
            <a:solidFill>
              <a:srgbClr val="99B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114032" y="2852928"/>
            <a:ext cx="438912" cy="201168"/>
          </a:xfrm>
          <a:prstGeom prst="rightArrow">
            <a:avLst/>
          </a:prstGeom>
          <a:solidFill>
            <a:srgbClr val="469C6E"/>
          </a:solidFill>
          <a:ln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4064" y="3813048"/>
            <a:ext cx="1965960" cy="932688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9050">
            <a:solidFill>
              <a:srgbClr val="D05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66944" y="4087368"/>
            <a:ext cx="347472" cy="347472"/>
          </a:xfrm>
          <a:prstGeom prst="ellipse">
            <a:avLst/>
          </a:prstGeom>
          <a:solidFill>
            <a:srgbClr val="D05249"/>
          </a:solidFill>
          <a:ln>
            <a:solidFill>
              <a:srgbClr val="D05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96712" y="3959352"/>
            <a:ext cx="1143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BPIPPRM*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6712" y="4233672"/>
            <a:ext cx="1143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5B6F79"/>
                </a:solidFill>
                <a:latin typeface="Aptos"/>
              </a:rPr>
              <a:t>parámetros PRIME
de edificios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90288" y="4151376"/>
            <a:ext cx="429768" cy="201168"/>
          </a:xfrm>
          <a:prstGeom prst="rightArrow">
            <a:avLst/>
          </a:prstGeom>
          <a:solidFill>
            <a:srgbClr val="99B3B7"/>
          </a:solidFill>
          <a:ln>
            <a:solidFill>
              <a:srgbClr val="99B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114032" y="4151376"/>
            <a:ext cx="438912" cy="201168"/>
          </a:xfrm>
          <a:prstGeom prst="rightArrow">
            <a:avLst/>
          </a:prstGeom>
          <a:solidFill>
            <a:srgbClr val="D05249"/>
          </a:solidFill>
          <a:ln>
            <a:solidFill>
              <a:srgbClr val="D05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89520" y="1956816"/>
            <a:ext cx="1874519" cy="1773936"/>
          </a:xfrm>
          <a:prstGeom prst="roundRect">
            <a:avLst>
              <a:gd name="adj" fmla="val 12000"/>
            </a:avLst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2276856"/>
            <a:ext cx="14173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AERMOD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08975" y="2724912"/>
            <a:ext cx="1435608" cy="384048"/>
          </a:xfrm>
          <a:prstGeom prst="roundRect">
            <a:avLst>
              <a:gd name="adj" fmla="val 12000"/>
            </a:avLst>
          </a:prstGeom>
          <a:solidFill>
            <a:srgbClr val="22485B"/>
          </a:solidFill>
          <a:ln w="12700">
            <a:solidFill>
              <a:srgbClr val="224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2743200"/>
            <a:ext cx="1289304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BCCD"/>
                </a:solidFill>
                <a:latin typeface="Aptos"/>
              </a:rPr>
              <a:t>MODELOPT SCREEN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3227832"/>
            <a:ext cx="1389888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motor de dispersión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528048" y="2679192"/>
            <a:ext cx="502920" cy="237744"/>
          </a:xfrm>
          <a:prstGeom prst="rightArrow">
            <a:avLst/>
          </a:prstGeom>
          <a:solidFill>
            <a:srgbClr val="007E85"/>
          </a:solidFill>
          <a:ln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8400" y="2194560"/>
            <a:ext cx="1627632" cy="1298448"/>
          </a:xfrm>
          <a:prstGeom prst="roundRect">
            <a:avLst>
              <a:gd name="adj" fmla="val 12000"/>
            </a:avLst>
          </a:prstGeom>
          <a:solidFill>
            <a:srgbClr val="DAF3F6"/>
          </a:solidFill>
          <a:ln w="1905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8128" y="2459736"/>
            <a:ext cx="1408176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D2436"/>
                </a:solidFill>
                <a:latin typeface="Aptos"/>
              </a:rPr>
              <a:t>MÁXIMO
CONSERVADOR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3072384"/>
            <a:ext cx="1207008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007E85"/>
                </a:solidFill>
                <a:latin typeface="Aptos"/>
              </a:rPr>
              <a:t>1 h + factores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4965192"/>
            <a:ext cx="416052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79"/>
                </a:solidFill>
                <a:latin typeface="Aptos"/>
              </a:rPr>
              <a:t>* Se activan cuando el escenario incluye terreno y/o downwash.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" y="5532120"/>
            <a:ext cx="10259568" cy="576072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650992"/>
            <a:ext cx="98938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2436"/>
                </a:solidFill>
                <a:latin typeface="Aptos"/>
              </a:rPr>
              <a:t>MAKEMET genera la meteorología → AERMAP aporta elevaciones → BPIPPRM caracteriza edificios → AERMOD calcula → AERSCREEN conserva el peor caso.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65392"/>
            <a:ext cx="89611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Fuente: U.S. EPA, AERSCREEN User’s Guide (EPA-454/B-21-005, 2021) · epa.gov/scram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6565392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AERSCREEN · síntesis conceptual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E85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2860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D2436"/>
                </a:solidFill>
                <a:latin typeface="Aptos"/>
              </a:rPr>
              <a:t>¿Qué datos utiliza como entrada?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731520"/>
            <a:ext cx="10241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F79"/>
                </a:solidFill>
                <a:latin typeface="Aptos"/>
              </a:rPr>
              <a:t>Los datos describen la emisión, el ambiente y la geometría que condiciona la dispersión.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007E85"/>
          </a:solidFill>
          <a:ln w="1270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364992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618488"/>
            <a:ext cx="530352" cy="530352"/>
          </a:xfrm>
          <a:prstGeom prst="ellipse">
            <a:avLst/>
          </a:prstGeom>
          <a:solidFill>
            <a:srgbClr val="007E85"/>
          </a:solidFill>
          <a:ln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82496"/>
            <a:ext cx="530352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18488"/>
            <a:ext cx="2139696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FUENTE EMISORA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322576"/>
            <a:ext cx="2871216" cy="36576"/>
          </a:xfrm>
          <a:prstGeom prst="rect">
            <a:avLst/>
          </a:prstGeom>
          <a:solidFill>
            <a:srgbClr val="007E85"/>
          </a:solidFill>
          <a:ln w="1270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2770632" cy="242316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Tipo de fuente y tasa de emisión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Altura y diámetro de chimenea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Temperatura y velocidad de salida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Entorno rural o urbano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Ubicación y cota de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5175504"/>
            <a:ext cx="2505456" cy="384048"/>
          </a:xfrm>
          <a:prstGeom prst="roundRect">
            <a:avLst>
              <a:gd name="adj" fmla="val 12000"/>
            </a:avLst>
          </a:prstGeom>
          <a:solidFill>
            <a:srgbClr val="DAF3F6"/>
          </a:solidFill>
          <a:ln w="12700">
            <a:solidFill>
              <a:srgbClr val="DA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93792"/>
            <a:ext cx="235915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E85"/>
                </a:solidFill>
                <a:latin typeface="Aptos"/>
              </a:rPr>
              <a:t>CASO TÍPICO: FUENTE PUNTUAL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353312"/>
            <a:ext cx="3364992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7408" y="1618488"/>
            <a:ext cx="530352" cy="530352"/>
          </a:xfrm>
          <a:prstGeom prst="ellipse">
            <a:avLst/>
          </a:prstGeom>
          <a:solidFill>
            <a:srgbClr val="F4A931"/>
          </a:solidFill>
          <a:ln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682496"/>
            <a:ext cx="530352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618488"/>
            <a:ext cx="2139696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METEOROLOGÍA Y SUPERFICIE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2322576"/>
            <a:ext cx="2871216" cy="36576"/>
          </a:xfrm>
          <a:prstGeom prst="rect">
            <a:avLst/>
          </a:prstGeom>
          <a:solidFill>
            <a:srgbClr val="F4A931"/>
          </a:solidFill>
          <a:ln w="12700"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587752"/>
            <a:ext cx="2770632" cy="242316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Temperaturas ambiente mínima y máxima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Albedo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Razón de Bowen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Longitud de rugosidad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Variación por período y sector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75504"/>
            <a:ext cx="2414016" cy="384048"/>
          </a:xfrm>
          <a:prstGeom prst="roundRect">
            <a:avLst>
              <a:gd name="adj" fmla="val 12000"/>
            </a:avLst>
          </a:prstGeom>
          <a:solidFill>
            <a:srgbClr val="FFF3DB"/>
          </a:solidFill>
          <a:ln w="12700">
            <a:solidFill>
              <a:srgbClr val="FFF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193792"/>
            <a:ext cx="226771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915B08"/>
                </a:solidFill>
                <a:latin typeface="Aptos"/>
              </a:rPr>
              <a:t>NO REQUIERE SERIE HORARIA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353312"/>
            <a:ext cx="3364992" cy="44622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65008" y="1618488"/>
            <a:ext cx="530352" cy="530352"/>
          </a:xfrm>
          <a:prstGeom prst="ellipse">
            <a:avLst/>
          </a:prstGeom>
          <a:solidFill>
            <a:srgbClr val="469C6E"/>
          </a:solidFill>
          <a:ln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1682496"/>
            <a:ext cx="530352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618488"/>
            <a:ext cx="2139696" cy="53035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GEOMETRÍA DEL ENTORNO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2322576"/>
            <a:ext cx="2871216" cy="36576"/>
          </a:xfrm>
          <a:prstGeom prst="rect">
            <a:avLst/>
          </a:prstGeom>
          <a:solidFill>
            <a:srgbClr val="469C6E"/>
          </a:solidFill>
          <a:ln w="12700"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587752"/>
            <a:ext cx="2770632" cy="242316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Terreno plano, elevado o complejo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DEM y coordenadas, si aplica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Edificios: altura, planta y orientación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Rango de búsqueda y receptores discretos</a:t>
            </a:r>
          </a:p>
          <a:p>
            <a:pPr>
              <a:lnSpc>
                <a:spcPct val="100000"/>
              </a:lnSpc>
              <a:spcAft>
                <a:spcPts val="1000"/>
              </a:spcAft>
              <a:defRPr sz="1400">
                <a:solidFill>
                  <a:srgbClr val="1C2D38"/>
                </a:solidFill>
                <a:latin typeface="Aptos"/>
              </a:defRPr>
            </a:pPr>
            <a:r>
              <a:t>•  Altura de receptor opcional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93608" y="5175504"/>
            <a:ext cx="2414016" cy="384048"/>
          </a:xfrm>
          <a:prstGeom prst="roundRect">
            <a:avLst>
              <a:gd name="adj" fmla="val 12000"/>
            </a:avLst>
          </a:prstGeom>
          <a:solidFill>
            <a:srgbClr val="E2F2E9"/>
          </a:solidFill>
          <a:ln w="12700">
            <a:solidFill>
              <a:srgbClr val="E2F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5193792"/>
            <a:ext cx="2267712" cy="31089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69C6E"/>
                </a:solidFill>
                <a:latin typeface="Aptos"/>
              </a:rPr>
              <a:t>AERMAP / BPIPPRM SI APLICA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16752"/>
            <a:ext cx="108356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2436"/>
                </a:solidFill>
                <a:latin typeface="Aptos"/>
              </a:rPr>
              <a:t>Idea clave: el resultado es tan defendible como los supuestos de entrada. Conservador no significa automáticamente representativo ni regulatorio.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89611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Fuente: U.S. EPA, AERSCREEN User’s Guide (EPA-454/B-21-005, 2021) · epa.gov/scram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6565392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AERSCREEN · síntesis conceptual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E85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1" y="228600"/>
            <a:ext cx="104241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D2436"/>
                </a:solidFill>
                <a:latin typeface="Aptos"/>
              </a:rPr>
              <a:t>¿Qué resultados entrega y cómo se interpretan?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5" y="731520"/>
            <a:ext cx="10241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F79"/>
                </a:solidFill>
                <a:latin typeface="Aptos"/>
              </a:rPr>
              <a:t>El valor del screening está en orientar decisiones tempranas, no en reemplazar un estudio refinado.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007E85"/>
          </a:solidFill>
          <a:ln w="12700"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3273552" cy="1417320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563624"/>
            <a:ext cx="475488" cy="475488"/>
          </a:xfrm>
          <a:prstGeom prst="ellipse">
            <a:avLst/>
          </a:prstGeom>
          <a:solidFill>
            <a:srgbClr val="007E85"/>
          </a:solidFill>
          <a:ln>
            <a:solidFill>
              <a:srgbClr val="00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18488"/>
            <a:ext cx="47548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517904"/>
            <a:ext cx="2240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2436"/>
                </a:solidFill>
                <a:latin typeface="Aptos"/>
              </a:rPr>
              <a:t>MÁXIMO DE 1 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865376"/>
            <a:ext cx="2212848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5B6F79"/>
                </a:solidFill>
                <a:latin typeface="Aptos"/>
              </a:rPr>
              <a:t>Concentración máxima estimada y distancia crítica desde la fuente.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53312"/>
            <a:ext cx="3273552" cy="1417320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1563624"/>
            <a:ext cx="475488" cy="475488"/>
          </a:xfrm>
          <a:prstGeom prst="ellipse">
            <a:avLst/>
          </a:prstGeom>
          <a:solidFill>
            <a:srgbClr val="F4A931"/>
          </a:solidFill>
          <a:ln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618488"/>
            <a:ext cx="47548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517904"/>
            <a:ext cx="2240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2436"/>
                </a:solidFill>
                <a:latin typeface="Aptos"/>
              </a:rPr>
              <a:t>OTROS PERÍODOS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865376"/>
            <a:ext cx="2212848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5B6F79"/>
                </a:solidFill>
                <a:latin typeface="Aptos"/>
              </a:rPr>
              <a:t>Estimaciones conservadoras de 3 h, 8 h, 24 h y anual mediante factores.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353312"/>
            <a:ext cx="3273552" cy="1417320"/>
          </a:xfrm>
          <a:prstGeom prst="roundRect">
            <a:avLst>
              <a:gd name="adj" fmla="val 12000"/>
            </a:avLst>
          </a:prstGeom>
          <a:solidFill>
            <a:srgbClr val="F4F9F9"/>
          </a:solidFill>
          <a:ln w="12700">
            <a:solidFill>
              <a:srgbClr val="C2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7848" y="1563624"/>
            <a:ext cx="475488" cy="475488"/>
          </a:xfrm>
          <a:prstGeom prst="ellipse">
            <a:avLst/>
          </a:prstGeom>
          <a:solidFill>
            <a:srgbClr val="469C6E"/>
          </a:solidFill>
          <a:ln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1618488"/>
            <a:ext cx="47548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517904"/>
            <a:ext cx="2240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D2436"/>
                </a:solidFill>
                <a:latin typeface="Aptos"/>
              </a:rPr>
              <a:t>CONDICIÓN 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1865376"/>
            <a:ext cx="2212848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5B6F79"/>
                </a:solidFill>
                <a:latin typeface="Aptos"/>
              </a:rPr>
              <a:t>Combinación meteorológica y geometría que controla el peor caso.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127248"/>
            <a:ext cx="5321808" cy="2468880"/>
          </a:xfrm>
          <a:prstGeom prst="roundRect">
            <a:avLst>
              <a:gd name="adj" fmla="val 12000"/>
            </a:avLst>
          </a:prstGeom>
          <a:solidFill>
            <a:srgbClr val="E6F5EE"/>
          </a:solidFill>
          <a:ln w="19050">
            <a:solidFill>
              <a:srgbClr val="469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419856"/>
            <a:ext cx="233172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69C6E"/>
                </a:solidFill>
                <a:latin typeface="Aptos"/>
              </a:rPr>
              <a:t>¿PARA QUÉ SIRVE?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840480"/>
            <a:ext cx="4572000" cy="1481328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Identificar rápidamente el escenario de mayor impacto.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Comparar alternativas de ubicación, altura o emisión.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Priorizar controles y datos que requieren mayor detalle.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Decidir si corresponde avanzar a una modelación refinada.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127248"/>
            <a:ext cx="5358384" cy="2468880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9050">
            <a:solidFill>
              <a:srgbClr val="F4A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419856"/>
            <a:ext cx="3154680" cy="32918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15B08"/>
                </a:solidFill>
                <a:latin typeface="Aptos"/>
              </a:rPr>
              <a:t>LÍMITES DE INTERPRETACIÓN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40480"/>
            <a:ext cx="4617720" cy="1481328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La meteorología es sintética: no representa una cronología real.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El grado de conservadurismo varía según el caso analizado.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No describe cuándo ocurrirá el máximo ni su frecuencia.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20">
                <a:solidFill>
                  <a:srgbClr val="0D2436"/>
                </a:solidFill>
                <a:latin typeface="Aptos"/>
              </a:defRPr>
            </a:pPr>
            <a:r>
              <a:t>•  No sustituye la revisión técnica, científica o normativa.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07008" y="5870448"/>
            <a:ext cx="9784080" cy="493776"/>
          </a:xfrm>
          <a:prstGeom prst="roundRect">
            <a:avLst>
              <a:gd name="adj" fmla="val 12000"/>
            </a:avLst>
          </a:prstGeom>
          <a:solidFill>
            <a:srgbClr val="0D2436"/>
          </a:solidFill>
          <a:ln w="12700">
            <a:solidFill>
              <a:srgbClr val="0D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5961888"/>
            <a:ext cx="9363456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Aptos"/>
              </a:rPr>
              <a:t>LECTURA CORRECTA: señal de alerta conservadora → base para decidir el siguiente nivel de análisis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96112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Fuente: U.S. EPA, AERSCREEN User’s Guide (EPA-454/B-21-005, 2021) · epa.gov/scram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6565392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5B6F79"/>
                </a:solidFill>
                <a:latin typeface="Aptos"/>
              </a:rPr>
              <a:t>AERSCREEN · síntesis conceptual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AERSCREEN — definición, componentes, entradas y resultados</dc:title>
  <dc:subject>Presentación técnica introductoria de cuatro diapositivas</dc:subject>
  <dc:creator>Proyecto AERMOD</dc:creator>
  <cp:keywords>AERSCREEN, AERMOD, MAKEMET, AERMAP, BPIPPRM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